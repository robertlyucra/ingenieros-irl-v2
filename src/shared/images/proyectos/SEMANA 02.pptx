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375" r:id="rId7"/>
    <p:sldId id="279" r:id="rId8"/>
    <p:sldId id="284" r:id="rId9"/>
    <p:sldId id="271" r:id="rId10"/>
    <p:sldId id="280" r:id="rId11"/>
    <p:sldId id="285" r:id="rId12"/>
    <p:sldId id="295" r:id="rId13"/>
    <p:sldId id="287" r:id="rId14"/>
    <p:sldId id="272" r:id="rId15"/>
    <p:sldId id="288" r:id="rId16"/>
    <p:sldId id="289" r:id="rId17"/>
    <p:sldId id="290" r:id="rId18"/>
    <p:sldId id="291" r:id="rId19"/>
    <p:sldId id="292" r:id="rId20"/>
    <p:sldId id="293" r:id="rId21"/>
    <p:sldId id="294" r:id="rId22"/>
    <p:sldId id="281" r:id="rId23"/>
    <p:sldId id="286" r:id="rId24"/>
    <p:sldId id="282" r:id="rId25"/>
    <p:sldId id="283" r:id="rId26"/>
    <p:sldId id="277" r:id="rId27"/>
    <p:sldId id="278" r:id="rId28"/>
    <p:sldId id="263" r:id="rId2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A41"/>
    <a:srgbClr val="E52247"/>
    <a:srgbClr val="333333"/>
    <a:srgbClr val="6466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8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04/08/2026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04/08/2026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04/08/2026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04/08/2026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04/08/2026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04/08/2026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04/08/2026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youtu.be/YglJiuFAtAU?si=jU5BeRsUKRG9Y-N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A612095-C194-E37D-128A-2AB977780A3C}"/>
              </a:ext>
            </a:extLst>
          </p:cNvPr>
          <p:cNvSpPr txBox="1"/>
          <p:nvPr/>
        </p:nvSpPr>
        <p:spPr>
          <a:xfrm>
            <a:off x="334876" y="677218"/>
            <a:ext cx="6032057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>
              <a:defRPr sz="32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dirty="0"/>
              <a:t>ASIGNATURA:</a:t>
            </a:r>
          </a:p>
          <a:p>
            <a:r>
              <a:rPr lang="es-ES" dirty="0"/>
              <a:t>REALIDAD NACIONAL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DD51994-2EE0-46FE-87E2-15D7CB6F4BC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922" y="6038070"/>
            <a:ext cx="517818" cy="410112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37BD5DC1-DCAD-43D1-8A61-2C240BCAEDAB}"/>
              </a:ext>
            </a:extLst>
          </p:cNvPr>
          <p:cNvSpPr/>
          <p:nvPr/>
        </p:nvSpPr>
        <p:spPr>
          <a:xfrm>
            <a:off x="1189641" y="6039706"/>
            <a:ext cx="48549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DOCENTES DE ESTUDIOS GENERALES</a:t>
            </a:r>
            <a:endParaRPr lang="es-PE" sz="24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94016D0-346B-40B4-AAEE-CDA1FAD366CE}"/>
              </a:ext>
            </a:extLst>
          </p:cNvPr>
          <p:cNvSpPr txBox="1"/>
          <p:nvPr/>
        </p:nvSpPr>
        <p:spPr>
          <a:xfrm>
            <a:off x="3507065" y="152645"/>
            <a:ext cx="531520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>
              <a:defRPr sz="32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ctr"/>
            <a:r>
              <a:rPr lang="es-ES" dirty="0"/>
              <a:t>ESTUDIOS           GENERALES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A5724CA-C0E4-4EE9-935B-9E2A16CD42EC}"/>
              </a:ext>
            </a:extLst>
          </p:cNvPr>
          <p:cNvSpPr txBox="1"/>
          <p:nvPr/>
        </p:nvSpPr>
        <p:spPr>
          <a:xfrm>
            <a:off x="444770" y="2643516"/>
            <a:ext cx="5599854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Unidad Didáctica I</a:t>
            </a:r>
          </a:p>
          <a:p>
            <a:r>
              <a:rPr lang="es-ES" sz="3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RA1</a:t>
            </a:r>
          </a:p>
          <a:p>
            <a:r>
              <a:rPr lang="es-ES" sz="3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LRPD1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734A4DB-6870-4552-B105-EE0A2373FEA7}"/>
              </a:ext>
            </a:extLst>
          </p:cNvPr>
          <p:cNvSpPr txBox="1"/>
          <p:nvPr/>
        </p:nvSpPr>
        <p:spPr>
          <a:xfrm>
            <a:off x="444770" y="4583577"/>
            <a:ext cx="370372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3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Semana 02</a:t>
            </a:r>
            <a:endParaRPr lang="es-ES" sz="36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AA55D2B-044C-41B3-B4D3-D8DB7A8FD607}"/>
              </a:ext>
            </a:extLst>
          </p:cNvPr>
          <p:cNvSpPr txBox="1"/>
          <p:nvPr/>
        </p:nvSpPr>
        <p:spPr>
          <a:xfrm>
            <a:off x="444770" y="5338983"/>
            <a:ext cx="370372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Semestre 2026-II</a:t>
            </a:r>
            <a:endParaRPr lang="es-ES" sz="2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619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6F73C8C5-293D-4A8D-9A9F-0449A130E48B}"/>
              </a:ext>
            </a:extLst>
          </p:cNvPr>
          <p:cNvSpPr txBox="1"/>
          <p:nvPr/>
        </p:nvSpPr>
        <p:spPr>
          <a:xfrm>
            <a:off x="903942" y="2820616"/>
            <a:ext cx="10374924" cy="10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</a:pPr>
            <a:r>
              <a:rPr lang="es-PE" sz="28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REALIDAD NACIONAL Y LA RELACIÓN ENTRE HERENCIA CULTURAL Y GEOGRÁFICA.</a:t>
            </a:r>
            <a:endParaRPr kumimoji="0" lang="es-ES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9C0FCCA-F4E6-4DBB-9CB8-D2E98814B256}"/>
              </a:ext>
            </a:extLst>
          </p:cNvPr>
          <p:cNvSpPr txBox="1"/>
          <p:nvPr/>
        </p:nvSpPr>
        <p:spPr>
          <a:xfrm>
            <a:off x="4823250" y="1204789"/>
            <a:ext cx="262383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SEMANA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687299E-1066-406F-9C10-A113B1298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1571" y="1743398"/>
            <a:ext cx="2359667" cy="134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133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1D52A30-0B86-4677-A94B-CAF10C92F8E8}"/>
              </a:ext>
            </a:extLst>
          </p:cNvPr>
          <p:cNvSpPr txBox="1"/>
          <p:nvPr/>
        </p:nvSpPr>
        <p:spPr>
          <a:xfrm>
            <a:off x="4747848" y="2899164"/>
            <a:ext cx="640079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 los estudiantes comprendan la realidad nacional y analicen cómo la herencia cultural y geográfica del Perú ha configurado su identidad y desafíos actuales, fortaleciendo su pensamiento crítico y valoración de la diversidad.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2500A26-BD49-424E-AF90-990CAE4ED276}"/>
              </a:ext>
            </a:extLst>
          </p:cNvPr>
          <p:cNvSpPr txBox="1"/>
          <p:nvPr/>
        </p:nvSpPr>
        <p:spPr>
          <a:xfrm>
            <a:off x="331246" y="338666"/>
            <a:ext cx="74157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4400" b="1" dirty="0">
                <a:solidFill>
                  <a:srgbClr val="FF0A4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Propósito de la Sesión: 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03176E7-B80A-446F-8C78-10E6D7C75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953" y="1905677"/>
            <a:ext cx="2780017" cy="3310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239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972F58E-AA10-8DC6-7BBE-F9032CFF3F7A}"/>
              </a:ext>
            </a:extLst>
          </p:cNvPr>
          <p:cNvSpPr txBox="1"/>
          <p:nvPr/>
        </p:nvSpPr>
        <p:spPr>
          <a:xfrm>
            <a:off x="1868107" y="2513897"/>
            <a:ext cx="8455785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INICIO</a:t>
            </a:r>
            <a:endParaRPr kumimoji="0" lang="es-ES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Extra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1911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BBD399F2-5D50-4001-91A4-B3EC4A2531B0}"/>
              </a:ext>
            </a:extLst>
          </p:cNvPr>
          <p:cNvSpPr txBox="1"/>
          <p:nvPr/>
        </p:nvSpPr>
        <p:spPr>
          <a:xfrm>
            <a:off x="331246" y="338666"/>
            <a:ext cx="47741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4400" b="1" dirty="0">
                <a:solidFill>
                  <a:srgbClr val="FF0A4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Motivación: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59F2EB3-4B3A-4E82-BAC9-5B6F5EA19D73}"/>
              </a:ext>
            </a:extLst>
          </p:cNvPr>
          <p:cNvSpPr txBox="1"/>
          <p:nvPr/>
        </p:nvSpPr>
        <p:spPr>
          <a:xfrm>
            <a:off x="736356" y="5608093"/>
            <a:ext cx="6097464" cy="6608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   Realidad nacional 2</a:t>
            </a:r>
          </a:p>
          <a:p>
            <a:pPr marL="114300" algn="just">
              <a:lnSpc>
                <a:spcPct val="115000"/>
              </a:lnSpc>
              <a:spcAft>
                <a:spcPts val="1000"/>
              </a:spcAft>
            </a:pPr>
            <a:r>
              <a:rPr lang="es-PE" sz="18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Aspectos teóricos de la realidad nacional</a:t>
            </a:r>
            <a:endParaRPr lang="es-PE" sz="32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961FC9E-07C6-4792-AD96-9CFD5E2295D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779" b="5324"/>
          <a:stretch/>
        </p:blipFill>
        <p:spPr>
          <a:xfrm>
            <a:off x="8711773" y="1942534"/>
            <a:ext cx="2513334" cy="2972931"/>
          </a:xfrm>
          <a:prstGeom prst="rect">
            <a:avLst/>
          </a:prstGeom>
          <a:solidFill>
            <a:srgbClr val="FF0000"/>
          </a:solidFill>
          <a:ln w="28575">
            <a:solidFill>
              <a:srgbClr val="FF0A41"/>
            </a:solidFill>
          </a:ln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F7BBD24C-9B63-47F6-999A-3A7909AE46F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693" t="10327" r="9041" b="52419"/>
          <a:stretch/>
        </p:blipFill>
        <p:spPr>
          <a:xfrm>
            <a:off x="811519" y="1610827"/>
            <a:ext cx="6022301" cy="3636346"/>
          </a:xfrm>
          <a:prstGeom prst="rect">
            <a:avLst/>
          </a:prstGeom>
        </p:spPr>
      </p:pic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3E4538B3-4E4C-4058-8F3B-840C9B91DAF6}"/>
              </a:ext>
            </a:extLst>
          </p:cNvPr>
          <p:cNvSpPr/>
          <p:nvPr/>
        </p:nvSpPr>
        <p:spPr>
          <a:xfrm>
            <a:off x="7386917" y="3309652"/>
            <a:ext cx="978408" cy="484632"/>
          </a:xfrm>
          <a:prstGeom prst="rightArrow">
            <a:avLst/>
          </a:prstGeom>
          <a:solidFill>
            <a:srgbClr val="FF0A4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11640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43388A89-0EB8-4E8C-AA0B-F28A207F845E}"/>
              </a:ext>
            </a:extLst>
          </p:cNvPr>
          <p:cNvSpPr txBox="1"/>
          <p:nvPr/>
        </p:nvSpPr>
        <p:spPr>
          <a:xfrm>
            <a:off x="4237892" y="1739136"/>
            <a:ext cx="703384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 abordar el tema “Relación entre herencia cultural y geográfica de la realidad nacional en el Perú”, es necesario que los estudiantes activen conocimientos sobre el concepto de realidad nacional y sus dimensiones, la diversidad cultural y lingüística del país, las características de sus regiones naturales y los principales procesos históricos que han construido la identidad peruana.</a:t>
            </a:r>
          </a:p>
          <a:p>
            <a:pPr algn="just"/>
            <a:endParaRPr lang="es-E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Estos saberes les permitirán comprender cómo la interacción entre cultura y territorio ha configurado la identidad, las oportunidades y los desafíos del Perú actual.</a:t>
            </a:r>
            <a:endParaRPr lang="es-PE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BD399F2-5D50-4001-91A4-B3EC4A2531B0}"/>
              </a:ext>
            </a:extLst>
          </p:cNvPr>
          <p:cNvSpPr txBox="1"/>
          <p:nvPr/>
        </p:nvSpPr>
        <p:spPr>
          <a:xfrm>
            <a:off x="331246" y="338666"/>
            <a:ext cx="47741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4400" b="1" dirty="0">
                <a:solidFill>
                  <a:srgbClr val="FF0A4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Saberes Previos: 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24FF30C2-0019-4FEB-976C-6F53DF94E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136" y="1754330"/>
            <a:ext cx="2316681" cy="313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262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972F58E-AA10-8DC6-7BBE-F9032CFF3F7A}"/>
              </a:ext>
            </a:extLst>
          </p:cNvPr>
          <p:cNvSpPr txBox="1"/>
          <p:nvPr/>
        </p:nvSpPr>
        <p:spPr>
          <a:xfrm>
            <a:off x="1868107" y="2513897"/>
            <a:ext cx="8455785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DESARROLLO</a:t>
            </a:r>
            <a:endParaRPr kumimoji="0" lang="es-ES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Extra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5823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1D52A30-0B86-4677-A94B-CAF10C92F8E8}"/>
              </a:ext>
            </a:extLst>
          </p:cNvPr>
          <p:cNvSpPr txBox="1"/>
          <p:nvPr/>
        </p:nvSpPr>
        <p:spPr>
          <a:xfrm>
            <a:off x="428091" y="1342173"/>
            <a:ext cx="566791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2.1 Concepto:</a:t>
            </a:r>
          </a:p>
          <a:p>
            <a:pPr algn="just"/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Realidad Nacional es el conjunto de condiciones históricas, sociales, económicas, políticas, culturales y geográficas que caracterizan a un país en un momento determinado. </a:t>
            </a:r>
          </a:p>
          <a:p>
            <a:pPr algn="just"/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Representa la manera en que interactúan sus instituciones, su población, sus recursos y sus dinámicas internas y externas.</a:t>
            </a:r>
          </a:p>
          <a:p>
            <a:pPr algn="just"/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Estudiar la Realidad Nacional implica analizar de forma crítica los procesos que han construido la nación y comprender los desafíos y oportunidades que enfrenta en la actualidad.</a:t>
            </a:r>
            <a:endParaRPr lang="es-PE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2500A26-BD49-424E-AF90-990CAE4ED276}"/>
              </a:ext>
            </a:extLst>
          </p:cNvPr>
          <p:cNvSpPr txBox="1"/>
          <p:nvPr/>
        </p:nvSpPr>
        <p:spPr>
          <a:xfrm>
            <a:off x="331245" y="338666"/>
            <a:ext cx="83599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4400" b="1" dirty="0">
                <a:solidFill>
                  <a:srgbClr val="FF0A4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REALIDAD NACIONAL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D36D350-F0BF-4E15-A474-6D53EBCDAB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5897"/>
          <a:stretch/>
        </p:blipFill>
        <p:spPr>
          <a:xfrm>
            <a:off x="6701332" y="1342173"/>
            <a:ext cx="5143500" cy="3710354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7EC46B5-4C41-49FB-9563-94AF173BC37A}"/>
              </a:ext>
            </a:extLst>
          </p:cNvPr>
          <p:cNvSpPr txBox="1"/>
          <p:nvPr/>
        </p:nvSpPr>
        <p:spPr>
          <a:xfrm>
            <a:off x="8265458" y="5331161"/>
            <a:ext cx="491640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900" dirty="0"/>
              <a:t>https://www.bing.com/images/search?view=</a:t>
            </a:r>
          </a:p>
        </p:txBody>
      </p:sp>
    </p:spTree>
    <p:extLst>
      <p:ext uri="{BB962C8B-B14F-4D97-AF65-F5344CB8AC3E}">
        <p14:creationId xmlns:p14="http://schemas.microsoft.com/office/powerpoint/2010/main" val="1596476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500A26-BD49-424E-AF90-990CAE4ED276}"/>
              </a:ext>
            </a:extLst>
          </p:cNvPr>
          <p:cNvSpPr txBox="1"/>
          <p:nvPr/>
        </p:nvSpPr>
        <p:spPr>
          <a:xfrm>
            <a:off x="214704" y="0"/>
            <a:ext cx="83599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3200" b="1" dirty="0">
                <a:solidFill>
                  <a:srgbClr val="FF0A4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REALIDAD NACIONAL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7EC46B5-4C41-49FB-9563-94AF173BC37A}"/>
              </a:ext>
            </a:extLst>
          </p:cNvPr>
          <p:cNvSpPr txBox="1"/>
          <p:nvPr/>
        </p:nvSpPr>
        <p:spPr>
          <a:xfrm>
            <a:off x="4921623" y="6519334"/>
            <a:ext cx="491640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900" dirty="0"/>
              <a:t>https://www.bing.com/images/search?view=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E520B23-BAC4-4918-94B6-9A8F651FA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04" y="749587"/>
            <a:ext cx="10516511" cy="5604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12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1D52A30-0B86-4677-A94B-CAF10C92F8E8}"/>
              </a:ext>
            </a:extLst>
          </p:cNvPr>
          <p:cNvSpPr txBox="1"/>
          <p:nvPr/>
        </p:nvSpPr>
        <p:spPr>
          <a:xfrm>
            <a:off x="428090" y="1342173"/>
            <a:ext cx="644322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2.2. Características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Integral: Abarca múltiples dimensiones (social, económica, política, cultural y ambiental).Dinámica: Está en constante cambio debido a transformaciones internas y externas.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Histórica: Se construye a partir de procesos pasados que influyen en el presente. Diversa: Refleja la pluralidad cultural, étnica y social del país.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Contextual: Se relaciona con el entorno regional e internacional.</a:t>
            </a:r>
            <a:endParaRPr lang="es-PE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2500A26-BD49-424E-AF90-990CAE4ED276}"/>
              </a:ext>
            </a:extLst>
          </p:cNvPr>
          <p:cNvSpPr txBox="1"/>
          <p:nvPr/>
        </p:nvSpPr>
        <p:spPr>
          <a:xfrm>
            <a:off x="331245" y="338666"/>
            <a:ext cx="83599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4400" b="1" dirty="0">
                <a:solidFill>
                  <a:srgbClr val="FF0A4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REALIDAD NACIONAL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EF6F885B-E83A-44FE-BC40-7C0BF97E3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7955" y="3429000"/>
            <a:ext cx="4114800" cy="226814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1C32DD6-904D-4193-B55B-410D8E3F8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7955" y="1160860"/>
            <a:ext cx="4114800" cy="226814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613410D-CDE9-4C00-9F56-2EC75B6582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7822" y="4746337"/>
            <a:ext cx="1597269" cy="1597269"/>
          </a:xfrm>
          <a:prstGeom prst="rect">
            <a:avLst/>
          </a:prstGeom>
        </p:spPr>
      </p:pic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EA2F9269-57E1-45FB-AA87-02FDE843A692}"/>
              </a:ext>
            </a:extLst>
          </p:cNvPr>
          <p:cNvSpPr/>
          <p:nvPr/>
        </p:nvSpPr>
        <p:spPr>
          <a:xfrm rot="9139948">
            <a:off x="5127162" y="4853127"/>
            <a:ext cx="1587466" cy="484632"/>
          </a:xfrm>
          <a:prstGeom prst="rightArrow">
            <a:avLst/>
          </a:prstGeom>
          <a:solidFill>
            <a:srgbClr val="FF0A4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rgbClr val="FF0A41"/>
                </a:solidFill>
              </a:ln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03896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1D52A30-0B86-4677-A94B-CAF10C92F8E8}"/>
              </a:ext>
            </a:extLst>
          </p:cNvPr>
          <p:cNvSpPr txBox="1"/>
          <p:nvPr/>
        </p:nvSpPr>
        <p:spPr>
          <a:xfrm>
            <a:off x="428091" y="1342173"/>
            <a:ext cx="591995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2.3. Importancia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Permite comprender los problemas y potencialidades del país.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Favorece el desarrollo de una ciudadanía crítica y participativa.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Contribuye a la formulación de políticas públicas más pertinentes y equitativas.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Promueve el fortalecimiento de la identidad nacional y el respeto por la diversidad cultural.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Facilita la toma de decisiones responsables en distintos ámbitos profesionales y sociales.</a:t>
            </a:r>
            <a:endParaRPr lang="es-PE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2500A26-BD49-424E-AF90-990CAE4ED276}"/>
              </a:ext>
            </a:extLst>
          </p:cNvPr>
          <p:cNvSpPr txBox="1"/>
          <p:nvPr/>
        </p:nvSpPr>
        <p:spPr>
          <a:xfrm>
            <a:off x="331245" y="338666"/>
            <a:ext cx="83599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4400" b="1" dirty="0">
                <a:solidFill>
                  <a:srgbClr val="FF0A4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REALIDAD NACIONAL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E548D719-AF5D-4108-BCA6-015A65DDD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1770" y="4210940"/>
            <a:ext cx="4496166" cy="196920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181E334-D534-47E2-AE3F-7F498FFC8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1769" y="1001590"/>
            <a:ext cx="4496166" cy="320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387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1D52A30-0B86-4677-A94B-CAF10C92F8E8}"/>
              </a:ext>
            </a:extLst>
          </p:cNvPr>
          <p:cNvSpPr txBox="1"/>
          <p:nvPr/>
        </p:nvSpPr>
        <p:spPr>
          <a:xfrm>
            <a:off x="445846" y="1981366"/>
            <a:ext cx="110684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1.Relación entre herencia cultural y geográfica de la realidad nacional en el Perú</a:t>
            </a:r>
          </a:p>
          <a:p>
            <a:pPr algn="just"/>
            <a:endParaRPr lang="es-E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realidad nacional del Perú está profundamente influenciada por su herencia cultural y su diversidad geográfica. Ambos elementos no solo forman parte de su identidad histórica, sino que también determinan su desarrollo social, económico y político. Comprender esta relación permite analizar cómo el pasado y el territorio influyen en la construcción del país actual. </a:t>
            </a:r>
            <a:endParaRPr lang="es-PE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2500A26-BD49-424E-AF90-990CAE4ED276}"/>
              </a:ext>
            </a:extLst>
          </p:cNvPr>
          <p:cNvSpPr txBox="1"/>
          <p:nvPr/>
        </p:nvSpPr>
        <p:spPr>
          <a:xfrm>
            <a:off x="322367" y="98969"/>
            <a:ext cx="1012665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4400" b="1" dirty="0">
                <a:solidFill>
                  <a:srgbClr val="FF0A4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2.1 RELACION ENTRE HERENCIA CULTURAL Y GEOGRAFIA DE LA REALIDAD NACIONAL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EF75DE3-46A7-41B2-A6E3-322D3F0697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5377" y="4224225"/>
            <a:ext cx="5398477" cy="2070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550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1D52A30-0B86-4677-A94B-CAF10C92F8E8}"/>
              </a:ext>
            </a:extLst>
          </p:cNvPr>
          <p:cNvSpPr txBox="1"/>
          <p:nvPr/>
        </p:nvSpPr>
        <p:spPr>
          <a:xfrm>
            <a:off x="211728" y="1055398"/>
            <a:ext cx="6641141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2.2. Herencia cultural del Perú</a:t>
            </a:r>
          </a:p>
          <a:p>
            <a:pPr algn="just"/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Perú posee una herencia cultural milenaria que se inicia con las civilizaciones preincaicas, se consolida con el Imperio Inca y se transforma durante la etapa colonial y republicana.</a:t>
            </a:r>
          </a:p>
          <a:p>
            <a:pPr algn="just"/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Esta herencia se caracteriza por: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diversidad étnica y lingüística (pueblos originarios, comunidades andinas y amazónicas).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riqueza de tradiciones, costumbres, festividades y expresiones artísticas.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influencia del mestizaje cultural entre lo indígena, lo europeo, lo africano y lo asiático.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valor de los saberes ancestrales en agricultura, medicina tradicional y organización comunitaria.</a:t>
            </a:r>
          </a:p>
          <a:p>
            <a:pPr algn="just"/>
            <a:endParaRPr lang="es-E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interculturalidad en el Perú actual refleja la convivencia de múltiples identidades culturales que forman parte de su realidad nacional</a:t>
            </a: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endParaRPr lang="es-PE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2500A26-BD49-424E-AF90-990CAE4ED276}"/>
              </a:ext>
            </a:extLst>
          </p:cNvPr>
          <p:cNvSpPr txBox="1"/>
          <p:nvPr/>
        </p:nvSpPr>
        <p:spPr>
          <a:xfrm>
            <a:off x="322367" y="0"/>
            <a:ext cx="1011410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3200" b="1" dirty="0">
                <a:solidFill>
                  <a:srgbClr val="FF0A4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2.1 RELACION ENTRE HERENCIA CULTURAL Y GEOGRAFIA DE LA REALIDAD NACIONAL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C680BE7-F02C-48B5-B2B1-CDADF559B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1847" y="4066282"/>
            <a:ext cx="2638425" cy="17145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1FD99C5-EF06-4D74-AAE5-AE7D3BAA8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7950" y="4097698"/>
            <a:ext cx="2173897" cy="17145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AC49602-F93D-4B38-8DD3-225CA3B70A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7950" y="1077218"/>
            <a:ext cx="4812322" cy="2822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8081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1D52A30-0B86-4677-A94B-CAF10C92F8E8}"/>
              </a:ext>
            </a:extLst>
          </p:cNvPr>
          <p:cNvSpPr txBox="1"/>
          <p:nvPr/>
        </p:nvSpPr>
        <p:spPr>
          <a:xfrm>
            <a:off x="322367" y="1323439"/>
            <a:ext cx="56300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Herencia geográfica del Perú</a:t>
            </a:r>
          </a:p>
          <a:p>
            <a:pPr algn="just"/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territorio peruano presenta una gran diversidad geográfica dividida en tres regiones naturales: costa, sierra y selva. Esta variedad influye directamente en: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Las actividades económicas (pesca en la costa, agricultura en la sierra, explotación de recursos naturales en la selva).Los estilos de vida y formas de organización social.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Las condiciones de acceso a servicios básicos.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distribución desigual de recursos y oportunidades.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geografía peruana ha condicionado históricamente el desarrollo de sus pueblos y la integración del territorio. </a:t>
            </a:r>
            <a:endParaRPr lang="es-PE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2500A26-BD49-424E-AF90-990CAE4ED276}"/>
              </a:ext>
            </a:extLst>
          </p:cNvPr>
          <p:cNvSpPr txBox="1"/>
          <p:nvPr/>
        </p:nvSpPr>
        <p:spPr>
          <a:xfrm>
            <a:off x="155314" y="79131"/>
            <a:ext cx="106681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3200" b="1" dirty="0">
                <a:solidFill>
                  <a:srgbClr val="FF0A4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2.1 RELACION ENTRE HERENCIA CULTURAL Y GEOGRAFIA</a:t>
            </a:r>
          </a:p>
          <a:p>
            <a:r>
              <a:rPr lang="es-PE" sz="3200" b="1" dirty="0">
                <a:solidFill>
                  <a:srgbClr val="FF0A4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LA REALIDAD NACIONAL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E8D81B5-2450-4834-B1F0-1D6DE712D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8531" y="1323438"/>
            <a:ext cx="4973882" cy="4708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8778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1D52A30-0B86-4677-A94B-CAF10C92F8E8}"/>
              </a:ext>
            </a:extLst>
          </p:cNvPr>
          <p:cNvSpPr txBox="1"/>
          <p:nvPr/>
        </p:nvSpPr>
        <p:spPr>
          <a:xfrm>
            <a:off x="322367" y="1077218"/>
            <a:ext cx="613997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Herencia cultural del Perú</a:t>
            </a:r>
          </a:p>
          <a:p>
            <a:pPr algn="just"/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Perú posee una herencia cultural milenaria que se inicia con las civilizaciones preincaicas, se consolida con el Imperio Inca y se transforma durante la etapa colonial y republicana.</a:t>
            </a:r>
          </a:p>
          <a:p>
            <a:pPr algn="just"/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Esta herencia se caracteriza por: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diversidad étnica y lingüística (pueblos originarios, comunidades andinas y amazónicas).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riqueza de tradiciones, costumbres, festividades y expresiones artísticas.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influencia del mestizaje cultural entre lo indígena, lo europeo, lo africano y lo asiático.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valor de los saberes ancestrales en agricultura, medicina tradicional y organización comunitaria.</a:t>
            </a:r>
          </a:p>
          <a:p>
            <a:pPr algn="just"/>
            <a:endParaRPr lang="es-E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interculturalidad en el Perú actual refleja la convivencia de múltiples identidades culturales que forman parte de su realidad nacional</a:t>
            </a: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endParaRPr lang="es-PE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2500A26-BD49-424E-AF90-990CAE4ED276}"/>
              </a:ext>
            </a:extLst>
          </p:cNvPr>
          <p:cNvSpPr txBox="1"/>
          <p:nvPr/>
        </p:nvSpPr>
        <p:spPr>
          <a:xfrm>
            <a:off x="322367" y="0"/>
            <a:ext cx="106681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3200" b="1" dirty="0">
                <a:solidFill>
                  <a:srgbClr val="FF0A4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2.1 RELACION ENTRE HERENCIA CULTURAL Y GEOGRAFIA </a:t>
            </a:r>
          </a:p>
          <a:p>
            <a:r>
              <a:rPr lang="es-PE" sz="3200" b="1" dirty="0">
                <a:solidFill>
                  <a:srgbClr val="FF0A4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 LA REALIDAD NACIONAL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F097B5B-41BF-4C46-B1BA-3E50DB737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668" y="764930"/>
            <a:ext cx="4767817" cy="201343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C9A8537-9F67-4227-AD63-7A952344B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668" y="2778368"/>
            <a:ext cx="4846965" cy="3761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6319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1D52A30-0B86-4677-A94B-CAF10C92F8E8}"/>
              </a:ext>
            </a:extLst>
          </p:cNvPr>
          <p:cNvSpPr txBox="1"/>
          <p:nvPr/>
        </p:nvSpPr>
        <p:spPr>
          <a:xfrm>
            <a:off x="447874" y="1359297"/>
            <a:ext cx="626669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Herencia geográfica del Perú</a:t>
            </a:r>
          </a:p>
          <a:p>
            <a:pPr algn="just"/>
            <a:endParaRPr lang="es-E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territorio peruano presenta una gran diversidad geográfica dividida en tres regiones naturales: costa, sierra y selva. Esta variedad influye directamente en: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Las actividades económicas (pesca en la costa, agricultura en la sierra, explotación de recursos naturales en la selva).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 estilos de vida y formas de organización social.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Las condiciones de acceso a servicios básicos.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distribución desigual de recursos y oportunidades.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geografía peruana ha condicionado históricamente el desarrollo de sus pueblos y la integración del territorio. </a:t>
            </a:r>
            <a:endParaRPr lang="es-PE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2500A26-BD49-424E-AF90-990CAE4ED276}"/>
              </a:ext>
            </a:extLst>
          </p:cNvPr>
          <p:cNvSpPr txBox="1"/>
          <p:nvPr/>
        </p:nvSpPr>
        <p:spPr>
          <a:xfrm>
            <a:off x="322367" y="0"/>
            <a:ext cx="106681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3200" b="1" dirty="0">
                <a:solidFill>
                  <a:srgbClr val="FF0A4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2.1 RELACION ENTRE HERENCIA CULTURAL Y GEOGRAFIA </a:t>
            </a:r>
          </a:p>
          <a:p>
            <a:r>
              <a:rPr lang="es-PE" sz="3200" b="1" dirty="0">
                <a:solidFill>
                  <a:srgbClr val="FF0A4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DE LA REALIDAD NACIONAL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4605C2D-8DF4-4066-8A2B-16D3A7BF3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9807" y="781361"/>
            <a:ext cx="3622339" cy="510638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829BE37-2E17-4122-81FD-A6458E098817}"/>
              </a:ext>
            </a:extLst>
          </p:cNvPr>
          <p:cNvSpPr txBox="1"/>
          <p:nvPr/>
        </p:nvSpPr>
        <p:spPr>
          <a:xfrm>
            <a:off x="8206190" y="6130427"/>
            <a:ext cx="60974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800" dirty="0"/>
              <a:t>https://www.bing.com/images/search?view=detailV2&amp;ccid=NSY5ip4P&amp;id=</a:t>
            </a:r>
          </a:p>
        </p:txBody>
      </p:sp>
    </p:spTree>
    <p:extLst>
      <p:ext uri="{BB962C8B-B14F-4D97-AF65-F5344CB8AC3E}">
        <p14:creationId xmlns:p14="http://schemas.microsoft.com/office/powerpoint/2010/main" val="3925155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1D52A30-0B86-4677-A94B-CAF10C92F8E8}"/>
              </a:ext>
            </a:extLst>
          </p:cNvPr>
          <p:cNvSpPr txBox="1"/>
          <p:nvPr/>
        </p:nvSpPr>
        <p:spPr>
          <a:xfrm>
            <a:off x="322368" y="1156385"/>
            <a:ext cx="651804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Relación entre herencia cultural y geográfica</a:t>
            </a:r>
          </a:p>
          <a:p>
            <a:pPr algn="just"/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cultura y la geografía en el Perú están estrechamente vinculadas. Las características del entorno natural han moldeado las costumbres, formas de trabajo, alimentación y cosmovisión de las poblaciones.</a:t>
            </a:r>
          </a:p>
          <a:p>
            <a:pPr algn="just"/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 ejemplo: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la sierra, la agricultura en terrazas y el ayllu reflejan adaptación al entorno andino.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la Amazonía, las comunidades mantienen prácticas sostenibles vinculadas al bosque.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la costa, el desarrollo urbano y comercial ha sido influenciado por la cercanía al mar.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Esta interacción demuestra que la realidad nacional no puede entenderse sin considerar cómo el espacio geográfico influye en la construcción cultural. </a:t>
            </a:r>
            <a:endParaRPr lang="es-PE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2500A26-BD49-424E-AF90-990CAE4ED276}"/>
              </a:ext>
            </a:extLst>
          </p:cNvPr>
          <p:cNvSpPr txBox="1"/>
          <p:nvPr/>
        </p:nvSpPr>
        <p:spPr>
          <a:xfrm>
            <a:off x="322367" y="0"/>
            <a:ext cx="106681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3200" b="1" dirty="0">
                <a:solidFill>
                  <a:srgbClr val="FF0A4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RELACION ENTRE HERENCIA CULTURAL Y GEOGRAFIA DE </a:t>
            </a:r>
          </a:p>
          <a:p>
            <a:r>
              <a:rPr lang="es-PE" sz="3200" b="1" dirty="0">
                <a:solidFill>
                  <a:srgbClr val="FF0A4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REALIDAD NACIONAL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8F0D690-33AA-4221-A5D1-A1CE4841A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6544" y="1151631"/>
            <a:ext cx="4286384" cy="214548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466FB40-A2E2-4DC7-B1CE-0E921EA2E2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1874" y="3499178"/>
            <a:ext cx="4301054" cy="2145484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A062F33A-523D-4328-B138-6C585BD22DB8}"/>
              </a:ext>
            </a:extLst>
          </p:cNvPr>
          <p:cNvSpPr txBox="1"/>
          <p:nvPr/>
        </p:nvSpPr>
        <p:spPr>
          <a:xfrm>
            <a:off x="7675685" y="5846725"/>
            <a:ext cx="438076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800" dirty="0"/>
              <a:t>https://www.bing.com/images/search?q=amazonia+agricultuta&amp;form=HDRSC3&amp;first=1</a:t>
            </a:r>
          </a:p>
        </p:txBody>
      </p:sp>
    </p:spTree>
    <p:extLst>
      <p:ext uri="{BB962C8B-B14F-4D97-AF65-F5344CB8AC3E}">
        <p14:creationId xmlns:p14="http://schemas.microsoft.com/office/powerpoint/2010/main" val="5994564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1D52A30-0B86-4677-A94B-CAF10C92F8E8}"/>
              </a:ext>
            </a:extLst>
          </p:cNvPr>
          <p:cNvSpPr txBox="1"/>
          <p:nvPr/>
        </p:nvSpPr>
        <p:spPr>
          <a:xfrm>
            <a:off x="428089" y="1794934"/>
            <a:ext cx="1115137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Discusión dirigida:</a:t>
            </a:r>
          </a:p>
          <a:p>
            <a:pPr algn="just"/>
            <a:endParaRPr lang="es-E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Importancia para la realidad nacional actual</a:t>
            </a:r>
          </a:p>
          <a:p>
            <a:pPr algn="just"/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Comprender esta relación permite: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Valorar la diversidad cultural como riqueza nacional.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Promover políticas públicas que respeten las particularidades regionales.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Fortalecer la identidad nacional desde una perspectiva intercultural.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Impulsar un desarrollo sostenible que respete el entorno natural y cultural.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2500A26-BD49-424E-AF90-990CAE4ED276}"/>
              </a:ext>
            </a:extLst>
          </p:cNvPr>
          <p:cNvSpPr txBox="1"/>
          <p:nvPr/>
        </p:nvSpPr>
        <p:spPr>
          <a:xfrm>
            <a:off x="331245" y="338666"/>
            <a:ext cx="76612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4400" b="1" dirty="0">
                <a:solidFill>
                  <a:srgbClr val="FF0A4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Aplicación de lo Aprendido</a:t>
            </a:r>
          </a:p>
        </p:txBody>
      </p:sp>
    </p:spTree>
    <p:extLst>
      <p:ext uri="{BB962C8B-B14F-4D97-AF65-F5344CB8AC3E}">
        <p14:creationId xmlns:p14="http://schemas.microsoft.com/office/powerpoint/2010/main" val="22830365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972F58E-AA10-8DC6-7BBE-F9032CFF3F7A}"/>
              </a:ext>
            </a:extLst>
          </p:cNvPr>
          <p:cNvSpPr txBox="1"/>
          <p:nvPr/>
        </p:nvSpPr>
        <p:spPr>
          <a:xfrm>
            <a:off x="1868107" y="2513897"/>
            <a:ext cx="8455785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CIERRE</a:t>
            </a:r>
            <a:endParaRPr kumimoji="0" lang="es-ES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Extra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7531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1D52A30-0B86-4677-A94B-CAF10C92F8E8}"/>
              </a:ext>
            </a:extLst>
          </p:cNvPr>
          <p:cNvSpPr txBox="1"/>
          <p:nvPr/>
        </p:nvSpPr>
        <p:spPr>
          <a:xfrm>
            <a:off x="428090" y="1794934"/>
            <a:ext cx="1123930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Conclusión</a:t>
            </a:r>
          </a:p>
          <a:p>
            <a:pPr algn="just"/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herencia cultural y geográfica del Perú constituye la base de su realidad nacional. Ambas dimensiones están interconectadas y explican tanto las fortalezas como los desafíos del país. Reconocer esta relación es fundamental para construir una sociedad más inclusiva, equitativa y respetuosa de su diversidad.</a:t>
            </a:r>
            <a:endParaRPr lang="es-PE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2500A26-BD49-424E-AF90-990CAE4ED276}"/>
              </a:ext>
            </a:extLst>
          </p:cNvPr>
          <p:cNvSpPr txBox="1"/>
          <p:nvPr/>
        </p:nvSpPr>
        <p:spPr>
          <a:xfrm>
            <a:off x="331245" y="338666"/>
            <a:ext cx="76612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4400" b="1" dirty="0">
                <a:solidFill>
                  <a:srgbClr val="FF0A4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Ideas Clave</a:t>
            </a:r>
          </a:p>
        </p:txBody>
      </p:sp>
    </p:spTree>
    <p:extLst>
      <p:ext uri="{BB962C8B-B14F-4D97-AF65-F5344CB8AC3E}">
        <p14:creationId xmlns:p14="http://schemas.microsoft.com/office/powerpoint/2010/main" val="26529111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500A26-BD49-424E-AF90-990CAE4ED276}"/>
              </a:ext>
            </a:extLst>
          </p:cNvPr>
          <p:cNvSpPr txBox="1"/>
          <p:nvPr/>
        </p:nvSpPr>
        <p:spPr>
          <a:xfrm>
            <a:off x="331245" y="338666"/>
            <a:ext cx="76612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4400" b="1" dirty="0">
                <a:solidFill>
                  <a:srgbClr val="FF0A4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Retroalimentación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7ADE202-A751-424C-A1BD-44E895357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692" y="1028700"/>
            <a:ext cx="9135208" cy="5152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5705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D5033386-0062-4C6C-8449-D5A0AD46C30F}"/>
              </a:ext>
            </a:extLst>
          </p:cNvPr>
          <p:cNvSpPr txBox="1"/>
          <p:nvPr/>
        </p:nvSpPr>
        <p:spPr>
          <a:xfrm>
            <a:off x="280446" y="1416865"/>
            <a:ext cx="10852441" cy="1608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083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s-PE" sz="1800" b="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Basadre, J. (2009). La promesa de la vida peruana. Fondo Editorial del Congreso del Perú.</a:t>
            </a:r>
            <a:endParaRPr lang="es-PE" sz="1800" b="1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73150" indent="-782638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s-PE" sz="1800" b="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Basadre, J. (2014). Perú: problema y posibilidad y otros ensayos. </a:t>
            </a:r>
            <a:r>
              <a:rPr lang="es-PE" sz="1800" b="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Penguin</a:t>
            </a:r>
            <a:r>
              <a:rPr lang="es-PE" sz="1800" b="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PE" sz="1800" b="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Random</a:t>
            </a:r>
            <a:r>
              <a:rPr lang="es-PE" sz="1800" b="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House Grupo Editorial.</a:t>
            </a:r>
            <a:endParaRPr lang="es-PE" sz="1800" b="1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54088" indent="-681038" algn="just">
              <a:lnSpc>
                <a:spcPct val="115000"/>
              </a:lnSpc>
              <a:spcBef>
                <a:spcPts val="300"/>
              </a:spcBef>
              <a:spcAft>
                <a:spcPts val="1000"/>
              </a:spcAft>
            </a:pPr>
            <a:r>
              <a:rPr lang="es-P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Silva Santisteban, Fernando, (1995). Historia de nuestro. tiempo, Lima: Universidad de Lima.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B21531A-295B-42B7-B3A8-3CBF9D965D00}"/>
              </a:ext>
            </a:extLst>
          </p:cNvPr>
          <p:cNvSpPr txBox="1"/>
          <p:nvPr/>
        </p:nvSpPr>
        <p:spPr>
          <a:xfrm>
            <a:off x="280446" y="313266"/>
            <a:ext cx="72210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b="1" dirty="0">
                <a:solidFill>
                  <a:srgbClr val="FF0A4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Referencias Bibliográficas</a:t>
            </a:r>
          </a:p>
        </p:txBody>
      </p:sp>
    </p:spTree>
    <p:extLst>
      <p:ext uri="{BB962C8B-B14F-4D97-AF65-F5344CB8AC3E}">
        <p14:creationId xmlns:p14="http://schemas.microsoft.com/office/powerpoint/2010/main" val="30654759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D5033386-0062-4C6C-8449-D5A0AD46C30F}"/>
              </a:ext>
            </a:extLst>
          </p:cNvPr>
          <p:cNvSpPr txBox="1"/>
          <p:nvPr/>
        </p:nvSpPr>
        <p:spPr>
          <a:xfrm>
            <a:off x="428089" y="1794934"/>
            <a:ext cx="11142587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PE" sz="2000" b="1" u="sng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Semana 2</a:t>
            </a:r>
          </a:p>
          <a:p>
            <a:pPr algn="just"/>
            <a:endParaRPr lang="es-PE" b="1" u="sng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360363" indent="-360363" algn="just">
              <a:buAutoNum type="arabicPeriod"/>
            </a:pPr>
            <a:r>
              <a:rPr lang="es-PE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Elabora </a:t>
            </a:r>
            <a:r>
              <a:rPr lang="es-PE" dirty="0">
                <a:latin typeface="Arial" panose="020B0604020202020204" pitchFamily="34" charset="0"/>
                <a:ea typeface="Calibri" panose="020F0502020204030204" pitchFamily="34" charset="0"/>
              </a:rPr>
              <a:t>un in</a:t>
            </a:r>
            <a:r>
              <a:rPr lang="es-PE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forme sobre la importancia de la realidad nacional del país, su herencia cultural y  geográfica.</a:t>
            </a:r>
          </a:p>
          <a:p>
            <a:pPr algn="just"/>
            <a:r>
              <a:rPr lang="es-PE" dirty="0"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 Subirlo a la plataforma (producto formativo).</a:t>
            </a:r>
            <a:endParaRPr lang="es-PE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B21531A-295B-42B7-B3A8-3CBF9D965D00}"/>
              </a:ext>
            </a:extLst>
          </p:cNvPr>
          <p:cNvSpPr txBox="1"/>
          <p:nvPr/>
        </p:nvSpPr>
        <p:spPr>
          <a:xfrm>
            <a:off x="280446" y="313266"/>
            <a:ext cx="72210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b="1" dirty="0">
                <a:solidFill>
                  <a:srgbClr val="FF0A4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Tareas y/o actividades complementarias</a:t>
            </a:r>
          </a:p>
        </p:txBody>
      </p:sp>
    </p:spTree>
    <p:extLst>
      <p:ext uri="{BB962C8B-B14F-4D97-AF65-F5344CB8AC3E}">
        <p14:creationId xmlns:p14="http://schemas.microsoft.com/office/powerpoint/2010/main" val="4929348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14058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EBA9D77510D9748B7C945FE34D1172B" ma:contentTypeVersion="13" ma:contentTypeDescription="Crear nuevo documento." ma:contentTypeScope="" ma:versionID="7336880998f073d899eadc2f1088b87c">
  <xsd:schema xmlns:xsd="http://www.w3.org/2001/XMLSchema" xmlns:xs="http://www.w3.org/2001/XMLSchema" xmlns:p="http://schemas.microsoft.com/office/2006/metadata/properties" xmlns:ns2="eb248c7a-4795-41cb-9eca-0a8e3b3db6f5" xmlns:ns3="2ff19507-ee3b-4ee6-996a-809d0473528b" targetNamespace="http://schemas.microsoft.com/office/2006/metadata/properties" ma:root="true" ma:fieldsID="68dce25d66187223532241a9a5adc27a" ns2:_="" ns3:_="">
    <xsd:import namespace="eb248c7a-4795-41cb-9eca-0a8e3b3db6f5"/>
    <xsd:import namespace="2ff19507-ee3b-4ee6-996a-809d047352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248c7a-4795-41cb-9eca-0a8e3b3db6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Etiquetas de imagen" ma:readOnly="false" ma:fieldId="{5cf76f15-5ced-4ddc-b409-7134ff3c332f}" ma:taxonomyMulti="true" ma:sspId="56b7e219-1754-4b55-9309-2c048e2e34a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f19507-ee3b-4ee6-996a-809d0473528b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d447d7e-7a34-4066-bc95-9bc5834bd476}" ma:internalName="TaxCatchAll" ma:showField="CatchAllData" ma:web="2ff19507-ee3b-4ee6-996a-809d047352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ff19507-ee3b-4ee6-996a-809d0473528b" xsi:nil="true"/>
    <lcf76f155ced4ddcb4097134ff3c332f xmlns="eb248c7a-4795-41cb-9eca-0a8e3b3db6f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83A8D1E-0D28-402E-A48E-7B55DF3B84B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E5D9D62-9F9C-47E2-AED7-B99D30FD7ED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b248c7a-4795-41cb-9eca-0a8e3b3db6f5"/>
    <ds:schemaRef ds:uri="2ff19507-ee3b-4ee6-996a-809d047352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A40AA64-99D9-4BF8-992C-3644938CA22B}">
  <ds:schemaRefs>
    <ds:schemaRef ds:uri="http://schemas.microsoft.com/office/2006/metadata/properties"/>
    <ds:schemaRef ds:uri="http://schemas.microsoft.com/office/infopath/2007/PartnerControls"/>
    <ds:schemaRef ds:uri="2ff19507-ee3b-4ee6-996a-809d0473528b"/>
    <ds:schemaRef ds:uri="eb248c7a-4795-41cb-9eca-0a8e3b3db6f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629</TotalTime>
  <Words>1391</Words>
  <Application>Microsoft Office PowerPoint</Application>
  <PresentationFormat>Panorámica</PresentationFormat>
  <Paragraphs>119</Paragraphs>
  <Slides>25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2" baseType="lpstr">
      <vt:lpstr>Aptos</vt:lpstr>
      <vt:lpstr>Aptos Display</vt:lpstr>
      <vt:lpstr>Aptos ExtraBold</vt:lpstr>
      <vt:lpstr>Arial</vt:lpstr>
      <vt:lpstr>Calibri</vt:lpstr>
      <vt:lpstr>Times New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PEDRO JHEFERSON SARAVIA VILCAMIZA</cp:lastModifiedBy>
  <cp:revision>247</cp:revision>
  <dcterms:created xsi:type="dcterms:W3CDTF">2024-02-16T14:43:26Z</dcterms:created>
  <dcterms:modified xsi:type="dcterms:W3CDTF">2026-08-04T16:44:13Z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0x010100FEBA9D77510D9748B7C945FE34D1172B</vt:lpwstr>
  </property>
</Properties>
</file>